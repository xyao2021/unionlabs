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 Light"/>
              </a:rPr>
              <a:t>End-to-End SDR Communication System</a:t>
            </a:r>
          </a:p>
          <a:p>
            <a:pPr algn="l"/>
            <a:r>
              <a:rPr sz="2200" b="0">
                <a:solidFill>
                  <a:srgbClr val="BFD2E4"/>
                </a:solidFill>
                <a:latin typeface="Calibri"/>
              </a:rPr>
              <a:t>A configurable single-carrier &amp; OFDM modem on USRP B210 (C++/UHD)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FB6CC"/>
                </a:solidFill>
                <a:latin typeface="Calibri"/>
              </a:rPr>
              <a:t>Modulation · Synchronization · Equalization · FEC · ARQ · Visualization</a:t>
            </a:r>
          </a:p>
          <a:p>
            <a:pPr algn="l"/>
            <a:r>
              <a:rPr sz="1600" b="1">
                <a:solidFill>
                  <a:srgbClr val="E87A1E"/>
                </a:solidFill>
                <a:latin typeface="Calibri"/>
              </a:rPr>
              <a:t>Hardware-validated over the air @ 915 MHz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What Was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108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FB6CC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0F2E4E"/>
                </a:solidFill>
                <a:latin typeface="Calibri"/>
              </a:rPr>
              <a:t>●  A complete, real-time digital communications link between two USRP B210 radios</a:t>
            </a:r>
          </a:p>
          <a:p>
            <a:pPr lvl="1" algn="l">
              <a:spcAft>
                <a:spcPts val="700"/>
              </a:spcAft>
            </a:pPr>
            <a:r>
              <a:rPr sz="1600" b="0">
                <a:solidFill>
                  <a:srgbClr val="555F6A"/>
                </a:solidFill>
                <a:latin typeface="Calibri"/>
              </a:rPr>
              <a:t>–  Two interchangeable waveforms — single-carrier (RRC) and OFDM</a:t>
            </a:r>
          </a:p>
          <a:p>
            <a:pPr lvl="1" algn="l">
              <a:spcAft>
                <a:spcPts val="700"/>
              </a:spcAft>
            </a:pPr>
            <a:r>
              <a:rPr sz="1600" b="0">
                <a:solidFill>
                  <a:srgbClr val="555F6A"/>
                </a:solidFill>
                <a:latin typeface="Calibri"/>
              </a:rPr>
              <a:t>–  14 modulation schemes: BPSK → 256-QAM, differential PSK, APSK</a:t>
            </a:r>
          </a:p>
          <a:p>
            <a:pPr lvl="1" algn="l">
              <a:spcAft>
                <a:spcPts val="700"/>
              </a:spcAft>
            </a:pPr>
            <a:r>
              <a:rPr sz="1600" b="0">
                <a:solidFill>
                  <a:srgbClr val="555F6A"/>
                </a:solidFill>
                <a:latin typeface="Calibri"/>
              </a:rPr>
              <a:t>–  Full receiver chain: energy detection, frame/timing/carrier sync, equalization, demod</a:t>
            </a:r>
          </a:p>
          <a:p>
            <a:pPr lvl="1" algn="l">
              <a:spcAft>
                <a:spcPts val="700"/>
              </a:spcAft>
            </a:pPr>
            <a:r>
              <a:rPr sz="1600" b="0">
                <a:solidFill>
                  <a:srgbClr val="555F6A"/>
                </a:solidFill>
                <a:latin typeface="Calibri"/>
              </a:rPr>
              <a:t>–  Reliability layer: forward error correction + CRC + stop-and-wait ARQ</a:t>
            </a:r>
          </a:p>
          <a:p>
            <a:pPr lvl="1" algn="l">
              <a:spcAft>
                <a:spcPts val="700"/>
              </a:spcAft>
            </a:pPr>
            <a:r>
              <a:rPr sz="1600" b="0">
                <a:solidFill>
                  <a:srgbClr val="555F6A"/>
                </a:solidFill>
                <a:latin typeface="Calibri"/>
              </a:rPr>
              <a:t>–  Built-in visualization: time / spectrum / constellation + EVM readout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0F2E4E"/>
                </a:solidFill>
                <a:latin typeface="Calibri"/>
              </a:rPr>
              <a:t>●  Every DSP block validated in simulation, then on hardware over the air</a:t>
            </a:r>
          </a:p>
          <a:p>
            <a:pPr lvl="1" algn="l">
              <a:spcAft>
                <a:spcPts val="700"/>
              </a:spcAft>
            </a:pPr>
            <a:r>
              <a:rPr sz="1600" b="0">
                <a:solidFill>
                  <a:srgbClr val="555F6A"/>
                </a:solidFill>
                <a:latin typeface="Calibri"/>
              </a:rPr>
              <a:t>–  Fully documented: 19-page reference (math + figures) and ready-to-run command 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989320"/>
            <a:ext cx="10972800" cy="18288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Signal-Chain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108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FB6CC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430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E4E"/>
                </a:solidFill>
                <a:latin typeface="Consolas"/>
              </a:rPr>
              <a:t>TX   message → chunks → CRC-16 → [FEC encode] → symbols (modulator, +preamble)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F6A"/>
                </a:solidFill>
                <a:latin typeface="Consolas"/>
              </a:rPr>
              <a:t>        ├─ single-carrier:  RRC pulse-shaping → USRP TX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F6A"/>
                </a:solidFill>
                <a:latin typeface="Consolas"/>
              </a:rPr>
              <a:t>        └─ OFDM:            subcarrier map → IFFT + cyclic prefix → USRP TX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F2E4E"/>
                </a:solidFill>
                <a:latin typeface="Consolas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E4E"/>
                </a:solidFill>
                <a:latin typeface="Consolas"/>
              </a:rPr>
              <a:t>RX   USRP RX → energy detector → AGC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F6A"/>
                </a:solidFill>
                <a:latin typeface="Consolas"/>
              </a:rPr>
              <a:t>        ├─ single-carrier:  matched filter → ACQ sync → CFO → phase → [eq] → demod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55F6A"/>
                </a:solidFill>
                <a:latin typeface="Consolas"/>
              </a:rPr>
              <a:t>        └─ OFDM:            Schmidl-Cox sync + CFO → FFT → 1-tap eq → pilot CPE → demod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E4E"/>
                </a:solidFill>
                <a:latin typeface="Consolas"/>
              </a:rPr>
              <a:t>     → [FEC decode] → CRC-16 check → (ARQ: ACK if OK) → reassemble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06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7A1E"/>
                </a:solidFill>
                <a:latin typeface="Calibri"/>
              </a:rPr>
              <a:t>Single-carrier timing is done by ACQ preamble correlation (not a Gardner loop). OFDM's sync / CFO / equalization / pilots all live inside its demodulator.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TX Chain — What Each Block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108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FB6CC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63040"/>
          <a:ext cx="11384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68122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Full name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CRC-16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Cyclic Redundancy Check (16-bit)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appends a checksum so the RX can detect any bit error in a chunk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FEC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Forward Error Correction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rate-1/2 K=7 convolutional encoder — adds redundancy to fix bit errors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Modulator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bit-to-symbol mapper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maps groups of bits to complex constellation points (QPSK … 256-QAM)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Preamble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known training sequence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prepended to each burst so the RX can detect and synchronize to 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RRC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Root-Raised-Cosine filter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pulse-shaping: band-limited spectrum, zero inter-symbol interference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IFFT + 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Inverse FFT + Cyclic Prefix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OFDM: subcarrier symbols → time samples; CP absorbs channel multipath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USRP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Universal Software Radio Peripheral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the SDR hardware — up-converts baseband to 915 MHz RF and transmits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RX Chain — What Each Block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108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FB6CC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71600"/>
          <a:ext cx="113842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63240"/>
                <a:gridCol w="676656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Full name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Energy detector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finds where each burst begins by watching received power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Automatic Gain 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normalizes the captured burst to a fixed amplitude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Matched filter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RRC at the receiver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maximizes SNR and removes ISI (pairs with the TX pulse shaper)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ACQ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Acquisition (preamble correlation)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joint frame + symbol timing from the known preamble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CFO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Carrier Frequency Offset correction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removes the two radios' oscillator frequency offset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Phase / PLL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carrier phase correction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removes residual constellation rotation before decisions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Equalizer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inverts channel distortion (SC: off by default; OFDM: 1 tap/subcarrier)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Schmidl-Cox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OFDM frame synchronizer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frame timing + CFO from a repeated-half preamble symbol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FFT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Fast Fourier Transform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OFDM: time samples → per-subcarrier symbols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CPE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Common Phase Error tracking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OFDM pilots track residual per-symbol phase drift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Demodulator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symbol-to-bit decision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nearest-constellation-point decision: symbols → bits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ARQ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Automatic Repeat reQuest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2E4E"/>
                          </a:solidFill>
                          <a:latin typeface="Calibri"/>
                        </a:rPr>
                        <a:t>CRC-verify each chunk; ACK the good ones, retransmit the failed 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Modulation Schemes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108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FB6CC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5760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10896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Schemes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bits/sym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PSK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BPSK, QPSK, 8-PSK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1–3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QAM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16 / 32 / 64 / 128 / 256-QAM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4–8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Differential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DBPSK, DQPSK, 8-DPSK, π/4-QPSK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1–3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APSK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16-APSK, 32-APSK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4–5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657600"/>
            <a:ext cx="5669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2E4E"/>
                </a:solidFill>
                <a:latin typeface="Calibri"/>
              </a:rPr>
              <a:t>●  Minimum-distance decision;  ŝ = argmin |y − c|</a:t>
            </a:r>
          </a:p>
          <a:p>
            <a:pPr lvl="1" algn="l">
              <a:spcAft>
                <a:spcPts val="400"/>
              </a:spcAft>
            </a:pPr>
            <a:r>
              <a:rPr sz="1300" b="0">
                <a:solidFill>
                  <a:srgbClr val="555F6A"/>
                </a:solidFill>
                <a:latin typeface="Calibri"/>
              </a:rPr>
              <a:t>–  Denser constellations shrink d_min → need lower EVM</a:t>
            </a:r>
          </a:p>
          <a:p>
            <a:pPr lvl="1" algn="l">
              <a:spcAft>
                <a:spcPts val="400"/>
              </a:spcAft>
            </a:pPr>
            <a:r>
              <a:rPr sz="1300" b="0">
                <a:solidFill>
                  <a:srgbClr val="555F6A"/>
                </a:solidFill>
                <a:latin typeface="Calibri"/>
              </a:rPr>
              <a:t>–  EVM ≲ 35% QPSK · ≲ 12% 16-QAM · ≲ 6% 64-QAM</a:t>
            </a:r>
          </a:p>
          <a:p>
            <a:pPr lvl="1" algn="l">
              <a:spcAft>
                <a:spcPts val="400"/>
              </a:spcAft>
            </a:pPr>
            <a:r>
              <a:rPr sz="1300" b="0">
                <a:solidFill>
                  <a:srgbClr val="555F6A"/>
                </a:solidFill>
                <a:latin typeface="Calibri"/>
              </a:rPr>
              <a:t>–  Differential: info in phase change → no PLL needed</a:t>
            </a:r>
          </a:p>
          <a:p>
            <a:pPr lvl="1" algn="l">
              <a:spcAft>
                <a:spcPts val="400"/>
              </a:spcAft>
            </a:pPr>
            <a:r>
              <a:rPr sz="1300" b="0">
                <a:solidFill>
                  <a:srgbClr val="555F6A"/>
                </a:solidFill>
                <a:latin typeface="Calibri"/>
              </a:rPr>
              <a:t>–  Gray coding → 1 symbol error ≈ 1 bit error</a:t>
            </a:r>
          </a:p>
        </p:txBody>
      </p:sp>
      <p:pic>
        <p:nvPicPr>
          <p:cNvPr id="8" name="Picture 7" descr="constel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08760"/>
            <a:ext cx="5394960" cy="28052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37960" y="42976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F6A"/>
                </a:solidFill>
                <a:latin typeface="Calibri"/>
              </a:rPr>
              <a:t>Same 28% EVM: clean on QPSK, bleeds across 16-QAM boundaries</a:t>
            </a:r>
          </a:p>
        </p:txBody>
      </p:sp>
      <p:pic>
        <p:nvPicPr>
          <p:cNvPr id="10" name="Picture 9" descr="ber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709160"/>
            <a:ext cx="2834640" cy="17581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Two Waveforms: Single-Carrier vs OFDM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108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FB6CC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0F2E4E"/>
                </a:solidFill>
                <a:latin typeface="Calibri"/>
              </a:rPr>
              <a:t>●  Single-carrier + RRC pulse shaping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F6A"/>
                </a:solidFill>
                <a:latin typeface="Calibri"/>
              </a:rPr>
              <a:t>–  Root-raised-cosine → zero-ISI at symbol instants (Nyquist)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F6A"/>
                </a:solidFill>
                <a:latin typeface="Calibri"/>
              </a:rPr>
              <a:t>–  Matched filter at RX maximizes SNR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0F2E4E"/>
                </a:solidFill>
                <a:latin typeface="Calibri"/>
              </a:rPr>
              <a:t>●  OFDM (64 subcarriers, cyclic prefix)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F6A"/>
                </a:solidFill>
                <a:latin typeface="Calibri"/>
              </a:rPr>
              <a:t>–  IFFT + CP → channel becomes 1 complex tap per subcarrier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F6A"/>
                </a:solidFill>
                <a:latin typeface="Calibri"/>
              </a:rPr>
              <a:t>–  One-tap equalization — no FIR needed under multipath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F6A"/>
                </a:solidFill>
                <a:latin typeface="Calibri"/>
              </a:rPr>
              <a:t>–  Scattered pilots + common-phase-error tracking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F6A"/>
                </a:solidFill>
                <a:latin typeface="Calibri"/>
              </a:rPr>
              <a:t>–  Best for dense QAM on frequency-selective channels</a:t>
            </a:r>
          </a:p>
        </p:txBody>
      </p:sp>
      <p:pic>
        <p:nvPicPr>
          <p:cNvPr id="7" name="Picture 6" descr="ofdm_orthog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417320"/>
            <a:ext cx="5212080" cy="2008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9400" y="3520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F6A"/>
                </a:solidFill>
                <a:latin typeface="Calibri"/>
              </a:rPr>
              <a:t>OFDM orthogonality: each subcarrier peaks where others are zero</a:t>
            </a:r>
          </a:p>
        </p:txBody>
      </p:sp>
      <p:pic>
        <p:nvPicPr>
          <p:cNvPr id="9" name="Picture 8" descr="rr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4114800"/>
            <a:ext cx="5212080" cy="20097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29400" y="6217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F6A"/>
                </a:solidFill>
                <a:latin typeface="Calibri"/>
              </a:rPr>
              <a:t>RRC pulse: zero crossings at neighbouring symbols → no ISI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Synchronization &amp; Timing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108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FB6CC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0F2E4E"/>
                </a:solidFill>
                <a:latin typeface="Calibri"/>
              </a:rPr>
              <a:t>●  Received signal carries 4 impairments: gain, CFO, phase, timing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F6A"/>
                </a:solidFill>
                <a:latin typeface="Calibri"/>
              </a:rPr>
              <a:t>–  Recovery order: frame + timing → CFO → phase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0F2E4E"/>
                </a:solidFill>
                <a:latin typeface="Calibri"/>
              </a:rPr>
              <a:t>●  Energy detection — IIR hypothesis test gates each burst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0F2E4E"/>
                </a:solidFill>
                <a:latin typeface="Calibri"/>
              </a:rPr>
              <a:t>●  Frame + symbol timing — ACQ preamble correlation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F6A"/>
                </a:solidFill>
                <a:latin typeface="Calibri"/>
              </a:rPr>
              <a:t>–  m-sequence or Zadoff-Chu (CAZAC) preamble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F6A"/>
                </a:solidFill>
                <a:latin typeface="Calibri"/>
              </a:rPr>
              <a:t>–  Feedforward: one timing phase per burst — robust for packets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0F2E4E"/>
                </a:solidFill>
                <a:latin typeface="Calibri"/>
              </a:rPr>
              <a:t>●  Gardner TED loop — the available tracking alternative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F6A"/>
                </a:solidFill>
                <a:latin typeface="Calibri"/>
              </a:rPr>
              <a:t>–  for a continuous stream (implemented, not active); S-curve →</a:t>
            </a:r>
          </a:p>
        </p:txBody>
      </p:sp>
      <p:pic>
        <p:nvPicPr>
          <p:cNvPr id="7" name="Picture 6" descr="gardner_s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5486400" cy="29809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F6A"/>
                </a:solidFill>
                <a:latin typeface="Calibri"/>
              </a:rPr>
              <a:t>Gardner S-curve (available tracking loop): error → 0 at correct timing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Carrier Recovery: Frequency &amp; Phase Offset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108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FB6CC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0F2E4E"/>
                </a:solidFill>
                <a:latin typeface="Calibri"/>
              </a:rPr>
              <a:t>●  CFO spins the constellation at 2π·Δf/fs rad/sample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F6A"/>
                </a:solidFill>
                <a:latin typeface="Calibri"/>
              </a:rPr>
              <a:t>–  Estimated data-aided from the preamble, then corrected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F6A"/>
                </a:solidFill>
                <a:latin typeface="Calibri"/>
              </a:rPr>
              <a:t>–  Pilot-aided phase-slope estimator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F6A"/>
                </a:solidFill>
                <a:latin typeface="Calibri"/>
              </a:rPr>
              <a:t>–  Autocorrelation (Moose / Schmidl-Cox) estimator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0F2E4E"/>
                </a:solidFill>
                <a:latin typeface="Calibri"/>
              </a:rPr>
              <a:t>●  Phase offset — 2nd-order digital PLL</a:t>
            </a:r>
          </a:p>
          <a:p>
            <a:pPr lvl="1" algn="l">
              <a:spcAft>
                <a:spcPts val="400"/>
              </a:spcAft>
            </a:pPr>
            <a:r>
              <a:rPr sz="1400" b="0">
                <a:solidFill>
                  <a:srgbClr val="555F6A"/>
                </a:solidFill>
                <a:latin typeface="Calibri"/>
              </a:rPr>
              <a:t>–  Tracks static offset AND residual-CFO ramp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0F2E4E"/>
                </a:solidFill>
                <a:latin typeface="Calibri"/>
              </a:rPr>
              <a:t>●  OFDM: Schmidl-Cox joint timing + CFO; pilots track drift</a:t>
            </a:r>
          </a:p>
        </p:txBody>
      </p:sp>
      <p:pic>
        <p:nvPicPr>
          <p:cNvPr id="7" name="Picture 6" descr="cfo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669280" cy="20815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34747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F6A"/>
                </a:solidFill>
                <a:latin typeface="Calibri"/>
              </a:rPr>
              <a:t>Uncorrected CFO spins clusters into arcs, then a full ring</a:t>
            </a:r>
          </a:p>
        </p:txBody>
      </p:sp>
      <p:pic>
        <p:nvPicPr>
          <p:cNvPr id="9" name="Picture 8" descr="schmidl_c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977639"/>
            <a:ext cx="4206240" cy="2054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61264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F6A"/>
                </a:solidFill>
                <a:latin typeface="Calibri"/>
              </a:rPr>
              <a:t>Schmidl-Cox timing metric: plateau marks the OFDM frame start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Reliability: FEC + CRC + ARQ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108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FB6CC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F2E4E"/>
                </a:solidFill>
                <a:latin typeface="Calibri"/>
              </a:rPr>
              <a:t>●  Forward Error Correction (optional, --fec)</a:t>
            </a:r>
          </a:p>
          <a:p>
            <a:pPr lvl="1" algn="l">
              <a:spcAft>
                <a:spcPts val="500"/>
              </a:spcAft>
            </a:pPr>
            <a:r>
              <a:rPr sz="1500" b="0">
                <a:solidFill>
                  <a:srgbClr val="555F6A"/>
                </a:solidFill>
                <a:latin typeface="Calibri"/>
              </a:rPr>
              <a:t>–  Rate-1/2, constraint-length-7 convolutional code (NASA/802.11a)</a:t>
            </a:r>
          </a:p>
          <a:p>
            <a:pPr lvl="1" algn="l">
              <a:spcAft>
                <a:spcPts val="500"/>
              </a:spcAft>
            </a:pPr>
            <a:r>
              <a:rPr sz="1500" b="0">
                <a:solidFill>
                  <a:srgbClr val="555F6A"/>
                </a:solidFill>
                <a:latin typeface="Calibri"/>
              </a:rPr>
              <a:t>–  Maximum-likelihood Viterbi decoder, d_free = 10</a:t>
            </a:r>
          </a:p>
          <a:p>
            <a:pPr lvl="1" algn="l">
              <a:spcAft>
                <a:spcPts val="500"/>
              </a:spcAft>
            </a:pPr>
            <a:r>
              <a:rPr sz="1500" b="0">
                <a:solidFill>
                  <a:srgbClr val="555F6A"/>
                </a:solidFill>
                <a:latin typeface="Calibri"/>
              </a:rPr>
              <a:t>–  ~100% error-free up to ~2% raw bit-error rate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F2E4E"/>
                </a:solidFill>
                <a:latin typeface="Calibri"/>
              </a:rPr>
              <a:t>●  Error detection — CRC-16-CCITT per chunk</a:t>
            </a:r>
          </a:p>
          <a:p>
            <a:pPr lvl="1" algn="l">
              <a:spcAft>
                <a:spcPts val="500"/>
              </a:spcAft>
            </a:pPr>
            <a:r>
              <a:rPr sz="1500" b="0">
                <a:solidFill>
                  <a:srgbClr val="555F6A"/>
                </a:solidFill>
                <a:latin typeface="Calibri"/>
              </a:rPr>
              <a:t>–  Catches all 1–2 bit, all odd, and ≤16-bit burst errors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F2E4E"/>
                </a:solidFill>
                <a:latin typeface="Calibri"/>
              </a:rPr>
              <a:t>●  Automatic Repeat reQuest — stop-and-wait</a:t>
            </a:r>
          </a:p>
          <a:p>
            <a:pPr lvl="1" algn="l">
              <a:spcAft>
                <a:spcPts val="500"/>
              </a:spcAft>
            </a:pPr>
            <a:r>
              <a:rPr sz="1500" b="0">
                <a:solidFill>
                  <a:srgbClr val="555F6A"/>
                </a:solidFill>
                <a:latin typeface="Calibri"/>
              </a:rPr>
              <a:t>–  ACK only verified chunks; retransmit on timeout; auto-terminate</a:t>
            </a:r>
          </a:p>
          <a:p>
            <a:pPr lvl="1" algn="l">
              <a:spcAft>
                <a:spcPts val="500"/>
              </a:spcAft>
            </a:pPr>
            <a:r>
              <a:rPr sz="1500" b="0">
                <a:solidFill>
                  <a:srgbClr val="555F6A"/>
                </a:solidFill>
                <a:latin typeface="Calibri"/>
              </a:rPr>
              <a:t>–  ACK over TCP (default) or a reverse RF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126480"/>
            <a:ext cx="10972800" cy="18288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Key Engineering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108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FB6CC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66344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Method / Fix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Wrong demod (front-end)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Rebuilt matched filter + ACQ joint timing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BER → 0 (verified)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OFDM dense-QAM smeared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MRC-weighted pilot CPE (robust to fades)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EVM 67% → 37%, decodes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Higher-order length mismatch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Fixed bits↔symbol partial-group packing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8-PSK/16-QAM+ align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Differential never decoded OTA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Last-preamble reference + bypass PLL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DBPSK/DQPSK/8-DPSK 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Flaky burst detection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Continuous noise-floor tracking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Reliable gating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Equalizer 'divergence'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LS training + center-tap delay comp.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F2E4E"/>
                          </a:solidFill>
                          <a:latin typeface="Calibri"/>
                        </a:rPr>
                        <a:t>BER 0 through multipath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7A1E"/>
                </a:solidFill>
                <a:latin typeface="Calibri"/>
              </a:rPr>
              <a:t>Each fix validated in simulation, then confirmed on hardware.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Visualization &amp; EVM — Proof of Correctness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108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FB6CC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F2E4E"/>
                </a:solidFill>
                <a:latin typeface="Calibri"/>
              </a:rPr>
              <a:t>●  Every run auto-captures TX &amp; RX signals</a:t>
            </a:r>
          </a:p>
          <a:p>
            <a:pPr lvl="1" algn="l">
              <a:spcAft>
                <a:spcPts val="500"/>
              </a:spcAft>
            </a:pPr>
            <a:r>
              <a:rPr sz="1400" b="0">
                <a:solidFill>
                  <a:srgbClr val="555F6A"/>
                </a:solidFill>
                <a:latin typeface="Calibri"/>
              </a:rPr>
              <a:t>–  Time domain, spectrum (FFT), constellation</a:t>
            </a:r>
          </a:p>
          <a:p>
            <a:pPr lvl="1" algn="l">
              <a:spcAft>
                <a:spcPts val="500"/>
              </a:spcAft>
            </a:pPr>
            <a:r>
              <a:rPr sz="1400" b="0">
                <a:solidFill>
                  <a:srgbClr val="555F6A"/>
                </a:solidFill>
                <a:latin typeface="Calibri"/>
              </a:rPr>
              <a:t>–  Ideal points overlaid + measured EVM %</a:t>
            </a:r>
          </a:p>
          <a:p>
            <a:pPr lvl="1" algn="l">
              <a:spcAft>
                <a:spcPts val="500"/>
              </a:spcAft>
            </a:pPr>
            <a:r>
              <a:rPr sz="1400" b="0">
                <a:solidFill>
                  <a:srgbClr val="555F6A"/>
                </a:solidFill>
                <a:latin typeface="Calibri"/>
              </a:rPr>
              <a:t>–  Per-modulation folders; figure saved on exit</a:t>
            </a:r>
          </a:p>
          <a:p>
            <a:pPr lvl="1" algn="l">
              <a:spcAft>
                <a:spcPts val="500"/>
              </a:spcAft>
            </a:pPr>
            <a:r>
              <a:rPr sz="1400" b="0">
                <a:solidFill>
                  <a:srgbClr val="555F6A"/>
                </a:solidFill>
                <a:latin typeface="Calibri"/>
              </a:rPr>
              <a:t>–  Tool to resolve individual OFDM subcarriers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0F2E4E"/>
                </a:solidFill>
                <a:latin typeface="Calibri"/>
              </a:rPr>
              <a:t>●  Turns 'it works' into a visual, quantitative claim</a:t>
            </a:r>
          </a:p>
        </p:txBody>
      </p:sp>
      <p:pic>
        <p:nvPicPr>
          <p:cNvPr id="7" name="Picture 6" descr="result_qpsk_ofdm_o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45920"/>
            <a:ext cx="6400800" cy="3413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94960" y="5166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F6A"/>
                </a:solidFill>
                <a:latin typeface="Calibri"/>
              </a:rPr>
              <a:t>Over-the-air QPSK OFDM: TX ideal points → RX four clean recovered clusters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Hardware Results — Over the Air @ 915 MHz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108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FB6CC"/>
                </a:solidFill>
                <a:latin typeface="Calibri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7132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45920"/>
                <a:gridCol w="1828800"/>
                <a:gridCol w="11887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Scheme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Waveform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EVM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BPSK / QPSK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SC &amp; OFDM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Solid (5/5 chunks)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~28%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8-PSK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Usable (ARQ completes)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~16% (tuned)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DBPSK / DQPSK / 8-DPSK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Solid (differential)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16-QAM and higher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SC &amp; OFDM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Blocked OTA / cable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F2E4E"/>
                          </a:solidFill>
                          <a:latin typeface="Calibri"/>
                        </a:rPr>
                        <a:t>&gt; ~30%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023360"/>
            <a:ext cx="5760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E4E"/>
                </a:solidFill>
                <a:latin typeface="Calibri"/>
              </a:rPr>
              <a:t>●  Full stack delivered error-free OTA</a:t>
            </a:r>
          </a:p>
          <a:p>
            <a:pPr lvl="1" algn="l">
              <a:spcAft>
                <a:spcPts val="300"/>
              </a:spcAft>
            </a:pPr>
            <a:r>
              <a:rPr sz="1300" b="0">
                <a:solidFill>
                  <a:srgbClr val="555F6A"/>
                </a:solidFill>
                <a:latin typeface="Calibri"/>
              </a:rPr>
              <a:t>–  FEC + stop-and-wait ARQ, auto-terminating</a:t>
            </a:r>
          </a:p>
          <a:p>
            <a:pPr lvl="1" algn="l">
              <a:spcAft>
                <a:spcPts val="300"/>
              </a:spcAft>
            </a:pPr>
            <a:r>
              <a:rPr sz="1300" b="0">
                <a:solidFill>
                  <a:srgbClr val="555F6A"/>
                </a:solidFill>
                <a:latin typeface="Calibri"/>
              </a:rPr>
              <a:t>–  Key lever: TX power drives EVM down</a:t>
            </a:r>
          </a:p>
          <a:p>
            <a:pPr lvl="1" algn="l">
              <a:spcAft>
                <a:spcPts val="300"/>
              </a:spcAft>
            </a:pPr>
            <a:r>
              <a:rPr sz="1300" b="0">
                <a:solidFill>
                  <a:srgbClr val="555F6A"/>
                </a:solidFill>
                <a:latin typeface="Calibri"/>
              </a:rPr>
              <a:t>–  (76→86 dB halved 8-PSK EVM: 28→16%)</a:t>
            </a:r>
          </a:p>
          <a:p>
            <a:pPr lvl="1" algn="l">
              <a:spcAft>
                <a:spcPts val="300"/>
              </a:spcAft>
            </a:pPr>
            <a:r>
              <a:rPr sz="1300" b="0">
                <a:solidFill>
                  <a:srgbClr val="555F6A"/>
                </a:solidFill>
                <a:latin typeface="Calibri"/>
              </a:rPr>
              <a:t>–  Link EVM floor ≈ 28–31%</a:t>
            </a:r>
          </a:p>
        </p:txBody>
      </p:sp>
      <p:pic>
        <p:nvPicPr>
          <p:cNvPr id="8" name="Picture 7" descr="result_8psk_o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00200"/>
            <a:ext cx="5486400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4800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F6A"/>
                </a:solidFill>
                <a:latin typeface="Calibri"/>
              </a:rPr>
              <a:t>8-PSK OTA at tuned gains: 8 clean clusters, EVM 16%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Investigation: Why 16-QAM+ Is Blocked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108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FB6CC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E4E"/>
                </a:solidFill>
                <a:latin typeface="Calibri"/>
              </a:rPr>
              <a:t>●  Cable link SNR is excellent — QPSK decodes cleanly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B03030"/>
                </a:solidFill>
                <a:latin typeface="Calibri"/>
              </a:rPr>
              <a:t>●  But 16-QAM fails on BOTH waveforms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E4E"/>
                </a:solidFill>
                <a:latin typeface="Calibri"/>
              </a:rPr>
              <a:t>●  Root cause: two free-running oscillators</a:t>
            </a:r>
          </a:p>
          <a:p>
            <a:pPr lvl="1" algn="l">
              <a:spcAft>
                <a:spcPts val="300"/>
              </a:spcAft>
            </a:pPr>
            <a:r>
              <a:rPr sz="1300" b="0">
                <a:solidFill>
                  <a:srgbClr val="555F6A"/>
                </a:solidFill>
                <a:latin typeface="Calibri"/>
              </a:rPr>
              <a:t>–  Independent TCXOs → real CFO (±1200 Hz jitter)</a:t>
            </a:r>
          </a:p>
          <a:p>
            <a:pPr lvl="1" algn="l">
              <a:spcAft>
                <a:spcPts val="300"/>
              </a:spcAft>
            </a:pPr>
            <a:r>
              <a:rPr sz="1300" b="0">
                <a:solidFill>
                  <a:srgbClr val="555F6A"/>
                </a:solidFill>
                <a:latin typeface="Calibri"/>
              </a:rPr>
              <a:t>–  TX carrier leakage beats at the CFO (near-DC tone)</a:t>
            </a:r>
          </a:p>
          <a:p>
            <a:pPr lvl="1" algn="l">
              <a:spcAft>
                <a:spcPts val="300"/>
              </a:spcAft>
            </a:pPr>
            <a:r>
              <a:rPr sz="1300" b="0">
                <a:solidFill>
                  <a:srgbClr val="555F6A"/>
                </a:solidFill>
                <a:latin typeface="Calibri"/>
              </a:rPr>
              <a:t>–  → rotates constellation (SC) / dominates AGC (OFDM)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E4E"/>
                </a:solidFill>
                <a:latin typeface="Calibri"/>
              </a:rPr>
              <a:t>●  Tried: DC removal, DC-block filter, TX LO-null</a:t>
            </a:r>
          </a:p>
          <a:p>
            <a:pPr lvl="1" algn="l">
              <a:spcAft>
                <a:spcPts val="300"/>
              </a:spcAft>
            </a:pPr>
            <a:r>
              <a:rPr sz="1300" b="0">
                <a:solidFill>
                  <a:srgbClr val="555F6A"/>
                </a:solidFill>
                <a:latin typeface="Calibri"/>
              </a:rPr>
              <a:t>–  None sufficient — leakage is a drifting tone, not static DC</a:t>
            </a:r>
          </a:p>
        </p:txBody>
      </p:sp>
      <p:pic>
        <p:nvPicPr>
          <p:cNvPr id="7" name="Picture 6" descr="result_16qam_cable_r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5669280" cy="30236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50749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F6A"/>
                </a:solidFill>
                <a:latin typeface="Calibri"/>
              </a:rPr>
              <a:t>Cable 16-QAM: amplitude perfect (rings) but phase rotates → fails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The Fix &amp; Portability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108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FB6CC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E8B57"/>
                </a:solidFill>
                <a:latin typeface="Calibri"/>
              </a:rPr>
              <a:t>●  Solution: a shared 10 MHz reference clock</a:t>
            </a:r>
          </a:p>
          <a:p>
            <a:pPr lvl="1" algn="l">
              <a:spcAft>
                <a:spcPts val="500"/>
              </a:spcAft>
            </a:pPr>
            <a:r>
              <a:rPr sz="1500" b="0">
                <a:solidFill>
                  <a:srgbClr val="555F6A"/>
                </a:solidFill>
                <a:latin typeface="Calibri"/>
              </a:rPr>
              <a:t>–  One reference into both radios' REF IN (--ref external)</a:t>
            </a:r>
          </a:p>
          <a:p>
            <a:pPr lvl="1" algn="l">
              <a:spcAft>
                <a:spcPts val="500"/>
              </a:spcAft>
            </a:pPr>
            <a:r>
              <a:rPr sz="1500" b="0">
                <a:solidFill>
                  <a:srgbClr val="555F6A"/>
                </a:solidFill>
                <a:latin typeface="Calibri"/>
              </a:rPr>
              <a:t>–  CFO → ~0; leakage becomes removable static DC</a:t>
            </a:r>
          </a:p>
          <a:p>
            <a:pPr lvl="1" algn="l">
              <a:spcAft>
                <a:spcPts val="500"/>
              </a:spcAft>
            </a:pPr>
            <a:r>
              <a:rPr sz="1500" b="0">
                <a:solidFill>
                  <a:srgbClr val="555F6A"/>
                </a:solidFill>
                <a:latin typeface="Calibri"/>
              </a:rPr>
              <a:t>–  → 16-QAM / 64-QAM / 256-QAM decode</a:t>
            </a:r>
          </a:p>
          <a:p>
            <a:pPr lvl="1" algn="l">
              <a:spcAft>
                <a:spcPts val="500"/>
              </a:spcAft>
            </a:pPr>
            <a:r>
              <a:rPr sz="1500" b="0">
                <a:solidFill>
                  <a:srgbClr val="555F6A"/>
                </a:solidFill>
                <a:latin typeface="Calibri"/>
              </a:rPr>
              <a:t>–  Same as WiFi: per-packet sync + pilots + clean TX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0F2E4E"/>
                </a:solidFill>
                <a:latin typeface="Calibri"/>
              </a:rPr>
              <a:t>●  Portable across USRP models — DSP is device-independent</a:t>
            </a:r>
          </a:p>
          <a:p>
            <a:pPr lvl="1" algn="l">
              <a:spcAft>
                <a:spcPts val="500"/>
              </a:spcAft>
            </a:pPr>
            <a:r>
              <a:rPr sz="1500" b="0">
                <a:solidFill>
                  <a:srgbClr val="555F6A"/>
                </a:solidFill>
                <a:latin typeface="Calibri"/>
              </a:rPr>
              <a:t>–  N210 / X310 / X410: only args, subdev, antenna, gain change</a:t>
            </a:r>
          </a:p>
          <a:p>
            <a:pPr lvl="1" algn="l">
              <a:spcAft>
                <a:spcPts val="500"/>
              </a:spcAft>
            </a:pPr>
            <a:r>
              <a:rPr sz="1500" b="0">
                <a:solidFill>
                  <a:srgbClr val="555F6A"/>
                </a:solidFill>
                <a:latin typeface="Calibri"/>
              </a:rPr>
              <a:t>–  Front-panel REF IN (+ GPSDO option) → dense QAM ready</a:t>
            </a:r>
          </a:p>
          <a:p>
            <a:pPr lvl="1" algn="l">
              <a:spcAft>
                <a:spcPts val="500"/>
              </a:spcAft>
            </a:pPr>
            <a:r>
              <a:rPr sz="1500" b="0">
                <a:solidFill>
                  <a:srgbClr val="555F6A"/>
                </a:solidFill>
                <a:latin typeface="Calibri"/>
              </a:rPr>
              <a:t>–  Command templates provided for all four models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108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FB6CC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F2E4E"/>
                </a:solidFill>
                <a:latin typeface="Calibri"/>
              </a:rPr>
              <a:t>●  Delivered a complete, documented SDR modem on USRP B210</a:t>
            </a: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555F6A"/>
                </a:solidFill>
                <a:latin typeface="Calibri"/>
              </a:rPr>
              <a:t>–  SC + OFDM, 14 modulations, full sync/eq/demod chain</a:t>
            </a: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555F6A"/>
                </a:solidFill>
                <a:latin typeface="Calibri"/>
              </a:rPr>
              <a:t>–  Convolutional-Viterbi FEC + CRC + stop-and-wait ARQ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2E4E"/>
                </a:solidFill>
                <a:latin typeface="Calibri"/>
              </a:rPr>
              <a:t>●  Hardware-validated: error-free QPSK / 8-PSK OTA, both waveforms</a:t>
            </a: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555F6A"/>
                </a:solidFill>
                <a:latin typeface="Calibri"/>
              </a:rPr>
              <a:t>–  Coherent AND differential schemes working end-to-end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2E4E"/>
                </a:solidFill>
                <a:latin typeface="Calibri"/>
              </a:rPr>
              <a:t>●  Diagnosed the dense-QAM limit to its root cause</a:t>
            </a: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555F6A"/>
                </a:solidFill>
                <a:latin typeface="Calibri"/>
              </a:rPr>
              <a:t>–  Free-running clocks → shared 10 MHz reference is the fix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F2E4E"/>
                </a:solidFill>
                <a:latin typeface="Calibri"/>
              </a:rPr>
              <a:t>●  Reproducible: 19-page reference w/ math &amp; figures, command sets, tests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E87A1E"/>
                </a:solidFill>
                <a:latin typeface="Calibri"/>
              </a:rPr>
              <a:t>●  Next step: add a 10 MHz reference → unlock 16-QAM and above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Live Demo — Run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108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FB6CC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E4E"/>
                </a:solidFill>
                <a:latin typeface="Calibri"/>
              </a:rPr>
              <a:t>QPSK single-carrier + FEC + stop-and-wait ARQ.  Start the SINK (RX) first, then the SOURCE (TX).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1109960" cy="1417320"/>
          </a:xfrm>
          <a:prstGeom prst="roundRect">
            <a:avLst/>
          </a:prstGeom>
          <a:solidFill>
            <a:srgbClr val="1B2533"/>
          </a:solidFill>
          <a:ln w="9525">
            <a:solidFill>
              <a:srgbClr val="3A4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100">
                <a:solidFill>
                  <a:srgbClr val="86C591"/>
                </a:solidFill>
                <a:latin typeface="Consolas"/>
              </a:rPr>
              <a:t># TERMINAL 1 — Sink / RX   (auto-stops when all chunks verified; saves the figure)</a:t>
            </a:r>
          </a:p>
          <a:p>
            <a:r>
              <a:rPr sz="1100">
                <a:solidFill>
                  <a:srgbClr val="D6E6F2"/>
                </a:solidFill>
                <a:latin typeface="Consolas"/>
              </a:rPr>
              <a:t>./sdr_system --role sink_arq --rx-args serial=30CD3F7 --tx-args serial=30CD3F7 \</a:t>
            </a:r>
          </a:p>
          <a:p>
            <a:r>
              <a:rPr sz="1100">
                <a:solidFill>
                  <a:srgbClr val="D6E6F2"/>
                </a:solidFill>
                <a:latin typeface="Consolas"/>
              </a:rPr>
              <a:t>  --rx-subdev A:A --rx-ant RX2 --rx-freq 915e6 --rx-rate 1.6e6 --rx-gain 20 \</a:t>
            </a:r>
          </a:p>
          <a:p>
            <a:r>
              <a:rPr sz="1100">
                <a:solidFill>
                  <a:srgbClr val="D6E6F2"/>
                </a:solidFill>
                <a:latin typeface="Consolas"/>
              </a:rPr>
              <a:t>  --scheme QPSK --fec true --ack-transport tcp --ack-port 5599 --det-mult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37560"/>
            <a:ext cx="11109960" cy="1554480"/>
          </a:xfrm>
          <a:prstGeom prst="roundRect">
            <a:avLst/>
          </a:prstGeom>
          <a:solidFill>
            <a:srgbClr val="1B2533"/>
          </a:solidFill>
          <a:ln w="9525">
            <a:solidFill>
              <a:srgbClr val="3A4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/>
            <a:r>
              <a:rPr sz="1100">
                <a:solidFill>
                  <a:srgbClr val="86C591"/>
                </a:solidFill>
                <a:latin typeface="Consolas"/>
              </a:rPr>
              <a:t># TERMINAL 2 — Source / TX   (retransmits until every chunk is ACKed)</a:t>
            </a:r>
          </a:p>
          <a:p>
            <a:r>
              <a:rPr sz="1100">
                <a:solidFill>
                  <a:srgbClr val="D6E6F2"/>
                </a:solidFill>
                <a:latin typeface="Consolas"/>
              </a:rPr>
              <a:t>./sdr_system --role source_arq --tx-args serial=30CD424 --rx-args serial=30CD424 \</a:t>
            </a:r>
          </a:p>
          <a:p>
            <a:r>
              <a:rPr sz="1100">
                <a:solidFill>
                  <a:srgbClr val="D6E6F2"/>
                </a:solidFill>
                <a:latin typeface="Consolas"/>
              </a:rPr>
              <a:t>  --tx-subdev A:A --tx-ant TX/RX --tx-freq 915e6 --tx-rate 1.6e6 --tx-gain 78 \</a:t>
            </a:r>
          </a:p>
          <a:p>
            <a:r>
              <a:rPr sz="1100">
                <a:solidFill>
                  <a:srgbClr val="D6E6F2"/>
                </a:solidFill>
                <a:latin typeface="Consolas"/>
              </a:rPr>
              <a:t>  --scheme QPSK --fec true --ack-transport tcp --ack-host 127.0.0.1 \</a:t>
            </a:r>
          </a:p>
          <a:p>
            <a:r>
              <a:rPr sz="1100">
                <a:solidFill>
                  <a:srgbClr val="D6E6F2"/>
                </a:solidFill>
                <a:latin typeface="Consolas"/>
              </a:rPr>
              <a:t>  --ack-port 5599 --timeout 3000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6FB2"/>
                </a:solidFill>
                <a:latin typeface="Calibri"/>
              </a:rPr>
              <a:t>●  Other schemes: swap --scheme  (BPSK · 8-PSK · DBPSK · DQPSK)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6FB2"/>
                </a:solidFill>
                <a:latin typeface="Calibri"/>
              </a:rPr>
              <a:t>●  OFDM: add  --waveform ofdm --ofdm-fft 64 --ofdm-cp 16 --ofdm-tx-peak 0.5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6FB2"/>
                </a:solidFill>
                <a:latin typeface="Calibri"/>
              </a:rPr>
              <a:t>●  8-PSK needs more TX power: --rx-gain 16 --tx-gain 86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6FB2"/>
                </a:solidFill>
                <a:latin typeface="Calibri"/>
              </a:rPr>
              <a:t>●  Live output: per-chunk CRC-OK, then the auto-saved constellation figure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Appendix — Key Equations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10896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FB6CC"/>
                </a:solidFill>
                <a:latin typeface="Calibri"/>
              </a:rPr>
              <a:t>18</a:t>
            </a:r>
          </a:p>
        </p:txBody>
      </p:sp>
      <p:pic>
        <p:nvPicPr>
          <p:cNvPr id="6" name="Picture 5" descr="equ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564579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