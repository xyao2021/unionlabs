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6B4BA8"/>
                </a:solidFill>
              </a:rPr>
              <a:t>UnionLabs: new agent, features, physical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222222"/>
                </a:solidFill>
              </a:rPr>
              <a:t>First Author · Second Author · Third Author</a:t>
            </a:r>
          </a:p>
          <a:p>
            <a:pPr algn="ctr"/>
            <a:r>
              <a:rPr sz="1600">
                <a:solidFill>
                  <a:srgbClr val="666666"/>
                </a:solidFill>
              </a:rPr>
              <a:t>Institution</a:t>
            </a:r>
          </a:p>
          <a:p>
            <a:pPr algn="ctr"/>
            <a:r>
              <a:rPr sz="1600">
                <a:solidFill>
                  <a:srgbClr val="666666"/>
                </a:solidFill>
              </a:rPr>
              <a:t>ACM MobiCom '26 Demo  ·  Austin, TX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B4BA8"/>
                </a:solidFill>
              </a:rPr>
              <a:t>The problem: everything around the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buChar char="•"/>
            </a:pPr>
            <a:r>
              <a:rPr sz="1800" b="0" i="0">
                <a:solidFill>
                  <a:srgbClr val="222222"/>
                </a:solidFill>
              </a:rPr>
              <a:t>A learning-over-radio experiment is easy to state and expensive to run — the algorithm is a page of code; what surrounds it is not.</a:t>
            </a:r>
          </a:p>
          <a:p>
            <a:pPr>
              <a:spcAft>
                <a:spcPts val="1400"/>
              </a:spcAft>
              <a:buChar char="•"/>
            </a:pPr>
            <a:r>
              <a:rPr sz="1800" b="0" i="0">
                <a:solidFill>
                  <a:srgbClr val="222222"/>
                </a:solidFill>
              </a:rPr>
              <a:t>Platforms removed the hardware barrier, open stacks the waveform barrier …</a:t>
            </a:r>
          </a:p>
          <a:p>
            <a:pPr>
              <a:spcAft>
                <a:spcPts val="1400"/>
              </a:spcAft>
              <a:buChar char="•"/>
            </a:pPr>
            <a:r>
              <a:rPr sz="1800" b="0" i="0">
                <a:solidFill>
                  <a:srgbClr val="222222"/>
                </a:solidFill>
              </a:rPr>
              <a:t>… but users still hand-link algorithms to the physical layer: hundreds of lines, days of debugging.</a:t>
            </a:r>
          </a:p>
          <a:p>
            <a:pPr>
              <a:spcAft>
                <a:spcPts val="1400"/>
              </a:spcAft>
              <a:buChar char="•"/>
            </a:pPr>
            <a:r>
              <a:rPr sz="1800" b="0" i="0">
                <a:solidFill>
                  <a:srgbClr val="222222"/>
                </a:solidFill>
              </a:rPr>
              <a:t>The wiring lives in operators' heads and shell history — retyped per machine, and the retypings disagree.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A2E4D"/>
                </a:solidFill>
              </a:rPr>
              <a:t>UnionLabs separates what an algorithm does from how the experiment is wired.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B4BA8"/>
                </a:solidFill>
              </a:rPr>
              <a:t>Four designed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buChar char="•"/>
            </a:pPr>
            <a:r>
              <a:rPr sz="1800" b="1" i="0">
                <a:solidFill>
                  <a:srgbClr val="6B4BA8"/>
                </a:solidFill>
              </a:rPr>
              <a:t>The Agent</a:t>
            </a:r>
            <a:r>
              <a:rPr sz="1800" b="0" i="0">
                <a:solidFill>
                  <a:srgbClr val="222222"/>
                </a:solidFill>
              </a:rPr>
              <a:t> — any machine becomes a managed edge node</a:t>
            </a:r>
          </a:p>
          <a:p>
            <a:pPr>
              <a:spcAft>
                <a:spcPts val="1800"/>
              </a:spcAft>
              <a:buChar char="•"/>
            </a:pPr>
            <a:r>
              <a:rPr sz="1800" b="1" i="0">
                <a:solidFill>
                  <a:srgbClr val="8A2E4D"/>
                </a:solidFill>
              </a:rPr>
              <a:t>The shared workspace</a:t>
            </a:r>
            <a:r>
              <a:rPr sz="1800" b="0" i="0">
                <a:solidFill>
                  <a:srgbClr val="222222"/>
                </a:solidFill>
              </a:rPr>
              <a:t> — one account's state, across testbeds</a:t>
            </a:r>
          </a:p>
          <a:p>
            <a:pPr>
              <a:spcAft>
                <a:spcPts val="1800"/>
              </a:spcAft>
              <a:buChar char="•"/>
            </a:pPr>
            <a:r>
              <a:rPr sz="1800" b="1" i="0">
                <a:solidFill>
                  <a:srgbClr val="1F6F5C"/>
                </a:solidFill>
              </a:rPr>
              <a:t>The algorithm contract</a:t>
            </a:r>
            <a:r>
              <a:rPr sz="1800" b="0" i="0">
                <a:solidFill>
                  <a:srgbClr val="222222"/>
                </a:solidFill>
              </a:rPr>
              <a:t> — transmit() / receive(msg), nothing else</a:t>
            </a:r>
          </a:p>
          <a:p>
            <a:pPr>
              <a:spcAft>
                <a:spcPts val="1800"/>
              </a:spcAft>
              <a:buChar char="•"/>
            </a:pPr>
            <a:r>
              <a:rPr sz="1800" b="1" i="0">
                <a:solidFill>
                  <a:srgbClr val="2E5E9E"/>
                </a:solidFill>
              </a:rPr>
              <a:t>The PHY codes</a:t>
            </a:r>
            <a:r>
              <a:rPr sz="1800" b="0" i="0">
                <a:solidFill>
                  <a:srgbClr val="222222"/>
                </a:solidFill>
              </a:rPr>
              <a:t> — a modem whose every stage is selectable</a:t>
            </a:r>
          </a:p>
        </p:txBody>
      </p:sp>
      <p:pic>
        <p:nvPicPr>
          <p:cNvPr id="4" name="Picture 3" descr="fig-union-api-col-30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383" y="1097280"/>
            <a:ext cx="4188114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B4BA8"/>
                </a:solidFill>
              </a:rPr>
              <a:t>The UnionLabs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943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</a:rPr>
              <a:t>One agent per edge node — server, workstation, or laptop.</a:t>
            </a:r>
          </a:p>
          <a:p>
            <a:pPr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</a:rPr>
              <a:t>Install: prepares AWS, Docker, RKE2, Helm; registers with a unique edge ID + token.</a:t>
            </a:r>
          </a:p>
          <a:p>
            <a:pPr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</a:rPr>
              <a:t>gRPC with the cloud: instructions down, status + heartbeats up.</a:t>
            </a:r>
          </a:p>
          <a:p>
            <a:pPr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</a:rPr>
              <a:t>Owner uploads the topology via the visualizer; reservation allocates from it — live nodes only.</a:t>
            </a:r>
          </a:p>
          <a:p>
            <a:pPr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</a:rPr>
              <a:t>Experiments become Kubernetes pods; devices exposed </a:t>
            </a:r>
            <a:r>
              <a:rPr sz="1600" b="0" i="1">
                <a:solidFill>
                  <a:srgbClr val="222222"/>
                </a:solidFill>
              </a:rPr>
              <a:t>only by the owner's permission</a:t>
            </a:r>
            <a:r>
              <a:rPr sz="1600" b="0" i="0">
                <a:solidFill>
                  <a:srgbClr val="222222"/>
                </a:solidFill>
              </a:rPr>
              <a:t>.</a:t>
            </a:r>
          </a:p>
          <a:p>
            <a:pPr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</a:rPr>
              <a:t>Remote access rides the cloud–edge path: pods never publicly exposed.</a:t>
            </a:r>
          </a:p>
        </p:txBody>
      </p:sp>
      <p:pic>
        <p:nvPicPr>
          <p:cNvPr id="4" name="Picture 3" descr="fig-agent-col-30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118" y="1097280"/>
            <a:ext cx="469608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8A2E4D"/>
                </a:solidFill>
              </a:rPr>
              <a:t>One workspace across testbeds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buChar char="•"/>
            </a:pPr>
            <a:r>
              <a:rPr sz="1700" b="0" i="0">
                <a:solidFill>
                  <a:srgbClr val="222222"/>
                </a:solidFill>
              </a:rPr>
              <a:t>Every session of an account mounts the same /workspace — even when the testbeds cannot reach each other.</a:t>
            </a:r>
          </a:p>
          <a:p>
            <a:pPr>
              <a:spcAft>
                <a:spcPts val="1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onsolas"/>
              </a:rPr>
              <a:t>topologies/</a:t>
            </a:r>
            <a:r>
              <a:rPr sz="1700" b="0" i="0">
                <a:solidFill>
                  <a:srgbClr val="222222"/>
                </a:solidFill>
              </a:rPr>
              <a:t>: authored wiring, written once.</a:t>
            </a:r>
          </a:p>
          <a:p>
            <a:pPr>
              <a:spcAft>
                <a:spcPts val="1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onsolas"/>
              </a:rPr>
              <a:t>settings/</a:t>
            </a:r>
            <a:r>
              <a:rPr sz="1700" b="0" i="0">
                <a:solidFill>
                  <a:srgbClr val="222222"/>
                </a:solidFill>
              </a:rPr>
              <a:t>: each session's own record — 30 s heartbeat, dropped when stale.</a:t>
            </a:r>
          </a:p>
          <a:p>
            <a:pPr>
              <a:spcAft>
                <a:spcPts val="1400"/>
              </a:spcAft>
              <a:buChar char="•"/>
            </a:pPr>
            <a:r>
              <a:rPr sz="1700" b="0" i="0">
                <a:solidFill>
                  <a:srgbClr val="222222"/>
                </a:solidFill>
              </a:rPr>
              <a:t>Two kinds of state, two lifecycles: the shared file system never carries a fact that can go stale.</a:t>
            </a:r>
          </a:p>
        </p:txBody>
      </p:sp>
      <p:pic>
        <p:nvPicPr>
          <p:cNvPr id="4" name="Picture 3" descr="fig-shared-workspace-col-30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07103"/>
            <a:ext cx="5120640" cy="52667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6F5C"/>
                </a:solidFill>
              </a:rPr>
              <a:t>The algorithm contract — run.sh, one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943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</a:rPr>
              <a:t>The algorithm writes </a:t>
            </a:r>
            <a:r>
              <a:rPr sz="1600" b="0" i="0">
                <a:solidFill>
                  <a:srgbClr val="222222"/>
                </a:solidFill>
                <a:latin typeface="Consolas"/>
              </a:rPr>
              <a:t>transmit()</a:t>
            </a:r>
            <a:r>
              <a:rPr sz="1600" b="0" i="0">
                <a:solidFill>
                  <a:srgbClr val="222222"/>
                </a:solidFill>
              </a:rPr>
              <a:t> and </a:t>
            </a:r>
            <a:r>
              <a:rPr sz="1600" b="0" i="0">
                <a:solidFill>
                  <a:srgbClr val="222222"/>
                </a:solidFill>
                <a:latin typeface="Consolas"/>
              </a:rPr>
              <a:t>receive(msg)</a:t>
            </a:r>
            <a:r>
              <a:rPr sz="1600" b="0" i="0">
                <a:solidFill>
                  <a:srgbClr val="222222"/>
                </a:solidFill>
              </a:rPr>
              <a:t> — and imports nothing from any radio driver.</a:t>
            </a:r>
          </a:p>
          <a:p>
            <a:pPr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</a:rPr>
              <a:t>The union layer validates payloads, converts ndarray ↔ bytes, maps role names.</a:t>
            </a:r>
          </a:p>
          <a:p>
            <a:pPr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</a:rPr>
              <a:t>The transport reads the topology + settings files; the node becomes </a:t>
            </a:r>
            <a:r>
              <a:rPr sz="1600" b="0" i="0">
                <a:solidFill>
                  <a:srgbClr val="222222"/>
                </a:solidFill>
                <a:latin typeface="Consolas"/>
              </a:rPr>
              <a:t>tx · rx · relay · peer</a:t>
            </a:r>
            <a:r>
              <a:rPr sz="1600" b="0" i="0">
                <a:solidFill>
                  <a:srgbClr val="222222"/>
                </a:solidFill>
              </a:rPr>
              <a:t>.</a:t>
            </a:r>
          </a:p>
          <a:p>
            <a:pPr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onsolas"/>
              </a:rPr>
              <a:t>--channel</a:t>
            </a:r>
            <a:r>
              <a:rPr sz="1600" b="0" i="0">
                <a:solidFill>
                  <a:srgbClr val="222222"/>
                </a:solidFill>
              </a:rPr>
              <a:t> selects the PHY: </a:t>
            </a:r>
            <a:r>
              <a:rPr sz="1600" b="0" i="0">
                <a:solidFill>
                  <a:srgbClr val="222222"/>
                </a:solidFill>
                <a:latin typeface="Consolas"/>
              </a:rPr>
              <a:t>ideal · usrp · lora</a:t>
            </a:r>
            <a:r>
              <a:rPr sz="1600" b="0" i="0">
                <a:solidFill>
                  <a:srgbClr val="222222"/>
                </a:solidFill>
              </a:rPr>
              <a:t>.</a:t>
            </a:r>
          </a:p>
          <a:p>
            <a:pPr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</a:rPr>
              <a:t>Same path, both directions — change the physical layer with one flag, no code change.</a:t>
            </a:r>
          </a:p>
        </p:txBody>
      </p:sp>
      <p:pic>
        <p:nvPicPr>
          <p:cNvPr id="4" name="Picture 3" descr="fig-union-api-col-30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610" y="1097280"/>
            <a:ext cx="4259099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E5E9E"/>
                </a:solidFill>
              </a:rPr>
              <a:t>The PHY codes</a:t>
            </a:r>
          </a:p>
        </p:txBody>
      </p:sp>
      <p:pic>
        <p:nvPicPr>
          <p:cNvPr id="3" name="Picture 2" descr="fig-phy-pipeline-30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822" y="1051560"/>
            <a:ext cx="7153876" cy="39776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257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</a:rPr>
              <a:t>Modulation, coding, synchronization, waveform, gains, carrier — all selectable per experiment.</a:t>
            </a:r>
          </a:p>
          <a:p>
            <a:pPr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</a:rPr>
              <a:t>Stop-and-wait ARQ end to end; the ACK over TCP or a second RF path.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B4BA8"/>
                </a:solidFill>
              </a:rPr>
              <a:t>Wiring as a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har char="•"/>
            </a:pPr>
            <a:r>
              <a:rPr sz="1800" b="0" i="0">
                <a:solidFill>
                  <a:srgbClr val="222222"/>
                </a:solidFill>
              </a:rPr>
              <a:t>A topology names each node, its role, its radio, its ports, and the links between nodes — every node launches from the same file.</a:t>
            </a:r>
          </a:p>
          <a:p>
            <a:pPr>
              <a:spcAft>
                <a:spcPts val="1600"/>
              </a:spcAft>
              <a:buChar char="•"/>
            </a:pPr>
            <a:r>
              <a:rPr sz="1800" b="1" i="0">
                <a:solidFill>
                  <a:srgbClr val="222222"/>
                </a:solidFill>
              </a:rPr>
              <a:t>Per-link, per-direction media</a:t>
            </a:r>
            <a:r>
              <a:rPr sz="1800" b="0" i="0">
                <a:solidFill>
                  <a:srgbClr val="222222"/>
                </a:solidFill>
              </a:rPr>
              <a:t>: one hop over the air, the next over Ethernet; the reply may return over TCP/IP.</a:t>
            </a:r>
          </a:p>
          <a:p>
            <a:pPr>
              <a:spcAft>
                <a:spcPts val="1600"/>
              </a:spcAft>
              <a:buChar char="•"/>
            </a:pPr>
            <a:r>
              <a:rPr sz="1800" b="0" i="0">
                <a:solidFill>
                  <a:srgbClr val="222222"/>
                </a:solidFill>
              </a:rPr>
              <a:t>A wiring that cannot run is </a:t>
            </a:r>
            <a:r>
              <a:rPr sz="1800" b="1" i="0">
                <a:solidFill>
                  <a:srgbClr val="222222"/>
                </a:solidFill>
              </a:rPr>
              <a:t>refused when it is read</a:t>
            </a:r>
            <a:r>
              <a:rPr sz="1800" b="0" i="0">
                <a:solidFill>
                  <a:srgbClr val="222222"/>
                </a:solidFill>
              </a:rPr>
              <a:t>, naming the node at fault — not minutes later, from the wrong layer.</a:t>
            </a:r>
          </a:p>
          <a:p>
            <a:pPr>
              <a:spcAft>
                <a:spcPts val="1600"/>
              </a:spcAft>
              <a:buChar char="•"/>
            </a:pPr>
            <a:r>
              <a:rPr sz="1800" b="0" i="0">
                <a:solidFill>
                  <a:srgbClr val="222222"/>
                </a:solidFill>
              </a:rPr>
              <a:t>One command walks 44 flags and 82 topology settings from typed text to the object each configures.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B4BA8"/>
                </a:solidFill>
              </a:rPr>
              <a:t>Demonstration: each part,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buChar char="•"/>
            </a:pPr>
            <a:r>
              <a:rPr sz="1800" b="1" i="0">
                <a:solidFill>
                  <a:srgbClr val="222222"/>
                </a:solidFill>
              </a:rPr>
              <a:t>1.  Onboarding (Agent)</a:t>
            </a:r>
            <a:r>
              <a:rPr sz="1800" b="0" i="0">
                <a:solidFill>
                  <a:srgbClr val="222222"/>
                </a:solidFill>
              </a:rPr>
              <a:t> — a machine enrolled on the spot; heartbeat appears; the visitor opens the container's remote desktop.</a:t>
            </a:r>
          </a:p>
          <a:p>
            <a:pPr>
              <a:spcAft>
                <a:spcPts val="1800"/>
              </a:spcAft>
              <a:buChar char="•"/>
            </a:pPr>
            <a:r>
              <a:rPr sz="1800" b="1" i="0">
                <a:solidFill>
                  <a:srgbClr val="222222"/>
                </a:solidFill>
              </a:rPr>
              <a:t>2.  One workspace</a:t>
            </a:r>
            <a:r>
              <a:rPr sz="1800" b="0" i="0">
                <a:solidFill>
                  <a:srgbClr val="222222"/>
                </a:solidFill>
              </a:rPr>
              <a:t> — edit a wiring file here, see it from a session on a remote testbed.</a:t>
            </a:r>
          </a:p>
          <a:p>
            <a:pPr>
              <a:spcAft>
                <a:spcPts val="1800"/>
              </a:spcAft>
              <a:buChar char="•"/>
            </a:pPr>
            <a:r>
              <a:rPr sz="1800" b="1" i="0">
                <a:solidFill>
                  <a:srgbClr val="222222"/>
                </a:solidFill>
              </a:rPr>
              <a:t>3.  One algorithm, different PHYs</a:t>
            </a:r>
            <a:r>
              <a:rPr sz="1800" b="0" i="0">
                <a:solidFill>
                  <a:srgbClr val="222222"/>
                </a:solidFill>
              </a:rPr>
              <a:t> — radio-free, then real radios by one flag; delivery, retransmissions, airtime on screen.</a:t>
            </a:r>
          </a:p>
          <a:p>
            <a:pPr>
              <a:spcAft>
                <a:spcPts val="1800"/>
              </a:spcAft>
              <a:buChar char="•"/>
            </a:pPr>
            <a:r>
              <a:rPr sz="1800" b="1" i="0">
                <a:solidFill>
                  <a:srgbClr val="222222"/>
                </a:solidFill>
              </a:rPr>
              <a:t>4.  Rewiring, and refusal</a:t>
            </a:r>
            <a:r>
              <a:rPr sz="1800" b="0" i="0">
                <a:solidFill>
                  <a:srgbClr val="222222"/>
                </a:solidFill>
              </a:rPr>
              <a:t> — a multi-hop experiment changes medium by one field; an impossible wiring is refused by name.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22222"/>
                </a:solidFill>
              </a:rPr>
              <a:t>Write the experiment once.</a:t>
            </a:r>
          </a:p>
          <a:p>
            <a:pPr algn="ctr"/>
            <a:r>
              <a:rPr sz="3000" b="1">
                <a:solidFill>
                  <a:srgbClr val="222222"/>
                </a:solidFill>
              </a:rPr>
              <a:t>Run it over any PHY, topology, and testbed.</a:t>
            </a:r>
          </a:p>
          <a:p>
            <a:pPr algn="ctr"/>
            <a:r>
              <a:rPr sz="1200" b="0">
                <a:solidFill>
                  <a:srgbClr val="222222"/>
                </a:solidFill>
              </a:rPr>
              <a:t/>
            </a:r>
          </a:p>
          <a:p>
            <a:pPr algn="ctr"/>
            <a:r>
              <a:rPr sz="1800" b="0">
                <a:solidFill>
                  <a:srgbClr val="222222"/>
                </a:solidFill>
                <a:latin typeface="Consolas"/>
              </a:rPr>
              <a:t>./run.sh --algo &lt;yours&gt; --topology &lt;wiring&gt; --node &lt;me&gt;</a:t>
            </a:r>
          </a:p>
          <a:p>
            <a:pPr algn="ctr"/>
            <a:r>
              <a:rPr sz="1200" b="0">
                <a:solidFill>
                  <a:srgbClr val="222222"/>
                </a:solidFill>
              </a:rPr>
              <a:t/>
            </a:r>
          </a:p>
          <a:p>
            <a:pPr algn="ctr"/>
            <a:r>
              <a:rPr sz="1800" b="0">
                <a:solidFill>
                  <a:srgbClr val="8A2E4D"/>
                </a:solidFill>
              </a:rPr>
              <a:t>One command · one wiring file · one contract</a:t>
            </a:r>
          </a:p>
          <a:p>
            <a:pPr algn="ctr"/>
            <a:r>
              <a:rPr sz="1200" b="0">
                <a:solidFill>
                  <a:srgbClr val="222222"/>
                </a:solidFill>
              </a:rPr>
              <a:t/>
            </a:r>
          </a:p>
          <a:p>
            <a:pPr algn="ctr"/>
            <a:r>
              <a:rPr sz="1400" b="0">
                <a:solidFill>
                  <a:srgbClr val="666666"/>
                </a:solidFill>
              </a:rPr>
              <a:t>Come run it at the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